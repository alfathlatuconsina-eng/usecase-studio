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732" r:id="rId2"/>
    <p:sldMasterId id="2147483787" r:id="rId3"/>
  </p:sldMasterIdLst>
  <p:notesMasterIdLst>
    <p:notesMasterId r:id="rId14"/>
  </p:notesMasterIdLst>
  <p:sldIdLst>
    <p:sldId id="256" r:id="rId4"/>
    <p:sldId id="257" r:id="rId5"/>
    <p:sldId id="258" r:id="rId6"/>
    <p:sldId id="265" r:id="rId7"/>
    <p:sldId id="266" r:id="rId8"/>
    <p:sldId id="394" r:id="rId9"/>
    <p:sldId id="375" r:id="rId10"/>
    <p:sldId id="259" r:id="rId11"/>
    <p:sldId id="260" r:id="rId12"/>
    <p:sldId id="402" r:id="rId13"/>
  </p:sldIdLst>
  <p:sldSz cx="12192000" cy="6858000"/>
  <p:notesSz cx="7104063" cy="10234613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5" roundtripDataSignature="AMtx7mi2JLR1VEjLVRfcRR/KJMcgwVKY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A1DF1-5A60-41FA-AD43-C15B0F179CE1}">
  <a:tblStyle styleId="{69CA1DF1-5A60-41FA-AD43-C15B0F179C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2A3AB5-5752-4FE6-B1F2-A96FC80F077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23A7527-D947-40AA-ABB4-66A991BEEBCC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DD4EA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BF5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3" autoAdjust="0"/>
    <p:restoredTop sz="91733" autoAdjust="0"/>
  </p:normalViewPr>
  <p:slideViewPr>
    <p:cSldViewPr snapToGrid="0">
      <p:cViewPr varScale="1">
        <p:scale>
          <a:sx n="62" d="100"/>
          <a:sy n="62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125" Type="http://customschemas.google.com/relationships/presentationmetadata" Target="meta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12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128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127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126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IVENA\05.%20Dashboard%20Project\Report%20Dashboard\01a.%20Excel%20Dashboard%20ver.20250610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IVENA\05.%20Dashboard%20Project\Report%20Dashboard\01a.%20Excel%20Dashboard%20ver.20250610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2.bin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5.16.9\Human%20Resource%20MNC\40%20PMO\00.%20Dashboard%20Report\05a.%20Excel%20Dashboard%20ver%2023%20Feb%202026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../embeddings/oleObject3.bin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../embeddings/oleObject4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'[01a. Excel Dashboard ver.20250610.xlsx]Progress Graphic - KRI'!$I$3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24-4203-A813-BDA70C77A5DD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24-4203-A813-BDA70C77A5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24-4203-A813-BDA70C77A5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24-4203-A813-BDA70C77A5DD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F24-4203-A813-BDA70C77A5DD}"/>
              </c:ext>
            </c:extLst>
          </c:dPt>
          <c:val>
            <c:numRef>
              <c:f>'[01a. Excel Dashboard ver.20250610.xlsx]Progress Graphic - KRI'!$J$4:$J$8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'[01a. Excel Dashboard ver.20250610.xlsx]Progress Graphic - KRI'!$L$3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F24-4203-A813-BDA70C77A5DD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F24-4203-A813-BDA70C77A5DD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F24-4203-A813-BDA70C77A5DD}"/>
              </c:ext>
            </c:extLst>
          </c:dPt>
          <c:val>
            <c:numRef>
              <c:f>'[01a. Excel Dashboard ver.20250610.xlsx]Progress Graphic - KRI'!$M$4:$M$6</c:f>
              <c:numCache>
                <c:formatCode>0</c:formatCode>
                <c:ptCount val="3"/>
                <c:pt idx="0">
                  <c:v>100</c:v>
                </c:pt>
                <c:pt idx="1">
                  <c:v>3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Excel Dashboard - -13 May 2026.xlsx]Summary on Project Status'!$E$3</c:f>
              <c:strCache>
                <c:ptCount val="1"/>
                <c:pt idx="0">
                  <c:v>Realization (Progress)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Status'!$D$4:$D$7</c:f>
              <c:strCache>
                <c:ptCount val="4"/>
                <c:pt idx="0">
                  <c:v>QRIS Acquiring</c:v>
                </c:pt>
                <c:pt idx="1">
                  <c:v>API Management</c:v>
                </c:pt>
                <c:pt idx="2">
                  <c:v>Konversi Valas ke Rupiah</c:v>
                </c:pt>
                <c:pt idx="3">
                  <c:v>Dormant Account Classification</c:v>
                </c:pt>
              </c:strCache>
            </c:strRef>
          </c:cat>
          <c:val>
            <c:numRef>
              <c:f>'[01b. Excel Dashboard - -13 May 2026.xlsx]Summary on Project Status'!$E$4:$E$7</c:f>
              <c:numCache>
                <c:formatCode>0.0%</c:formatCode>
                <c:ptCount val="4"/>
                <c:pt idx="0">
                  <c:v>0.91</c:v>
                </c:pt>
                <c:pt idx="1">
                  <c:v>0.48499999999999999</c:v>
                </c:pt>
                <c:pt idx="2">
                  <c:v>0.87</c:v>
                </c:pt>
                <c:pt idx="3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1-4D00-A3B2-3F841D1AFF3C}"/>
            </c:ext>
          </c:extLst>
        </c:ser>
        <c:ser>
          <c:idx val="1"/>
          <c:order val="1"/>
          <c:tx>
            <c:strRef>
              <c:f>'[01b. Excel Dashboard - -13 May 2026.xlsx]Summary on Project Status'!$F$3</c:f>
              <c:strCache>
                <c:ptCount val="1"/>
                <c:pt idx="0">
                  <c:v>Targeted Timeline</c:v>
                </c:pt>
              </c:strCache>
            </c:strRef>
          </c:tx>
          <c:spPr>
            <a:solidFill>
              <a:srgbClr val="00206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Status'!$D$4:$D$7</c:f>
              <c:strCache>
                <c:ptCount val="4"/>
                <c:pt idx="0">
                  <c:v>QRIS Acquiring</c:v>
                </c:pt>
                <c:pt idx="1">
                  <c:v>API Management</c:v>
                </c:pt>
                <c:pt idx="2">
                  <c:v>Konversi Valas ke Rupiah</c:v>
                </c:pt>
                <c:pt idx="3">
                  <c:v>Dormant Account Classification</c:v>
                </c:pt>
              </c:strCache>
            </c:strRef>
          </c:cat>
          <c:val>
            <c:numRef>
              <c:f>'[01b. Excel Dashboard - -13 May 2026.xlsx]Summary on Project Status'!$F$4:$F$7</c:f>
              <c:numCache>
                <c:formatCode>0.0%</c:formatCode>
                <c:ptCount val="4"/>
                <c:pt idx="0">
                  <c:v>1</c:v>
                </c:pt>
                <c:pt idx="1">
                  <c:v>0.56000000000000005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11-4D00-A3B2-3F841D1AFF3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6433752"/>
        <c:axId val="326435720"/>
      </c:barChart>
      <c:catAx>
        <c:axId val="326433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435720"/>
        <c:crosses val="autoZero"/>
        <c:auto val="1"/>
        <c:lblAlgn val="ctr"/>
        <c:lblOffset val="100"/>
        <c:noMultiLvlLbl val="0"/>
      </c:catAx>
      <c:valAx>
        <c:axId val="326435720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326433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'[01a. Excel Dashboard ver.20250610.xlsx]Progress Graphic - KRI'!$I$3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24-4203-A813-BDA70C77A5DD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24-4203-A813-BDA70C77A5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24-4203-A813-BDA70C77A5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24-4203-A813-BDA70C77A5DD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F24-4203-A813-BDA70C77A5DD}"/>
              </c:ext>
            </c:extLst>
          </c:dPt>
          <c:val>
            <c:numRef>
              <c:f>'[01a. Excel Dashboard ver.20250610.xlsx]Progress Graphic - KRI'!$J$4:$J$8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'[01a. Excel Dashboard ver.20250610.xlsx]Progress Graphic - KRI'!$L$3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F24-4203-A813-BDA70C77A5DD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F24-4203-A813-BDA70C77A5DD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F24-4203-A813-BDA70C77A5DD}"/>
              </c:ext>
            </c:extLst>
          </c:dPt>
          <c:val>
            <c:numRef>
              <c:f>'[01a. Excel Dashboard ver.20250610.xlsx]Progress Graphic - KRI'!$M$4:$M$6</c:f>
              <c:numCache>
                <c:formatCode>0</c:formatCode>
                <c:ptCount val="3"/>
                <c:pt idx="0">
                  <c:v>100</c:v>
                </c:pt>
                <c:pt idx="1">
                  <c:v>3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Excel Dashboard - -13 May 2026.xlsx]Summary on Project Status'!$E$17</c:f>
              <c:strCache>
                <c:ptCount val="1"/>
                <c:pt idx="0">
                  <c:v>Realization (Progress)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Status'!$D$18:$D$27</c:f>
              <c:strCache>
                <c:ptCount val="10"/>
                <c:pt idx="0">
                  <c:v>Data Center Migration</c:v>
                </c:pt>
                <c:pt idx="1">
                  <c:v>Fraud Detection System (FDS)</c:v>
                </c:pt>
                <c:pt idx="2">
                  <c:v>OPICS</c:v>
                </c:pt>
                <c:pt idx="3">
                  <c:v>Enhancement RTGS</c:v>
                </c:pt>
                <c:pt idx="4">
                  <c:v>QRIS Acquiring</c:v>
                </c:pt>
                <c:pt idx="5">
                  <c:v>QRIS CPM</c:v>
                </c:pt>
                <c:pt idx="6">
                  <c:v>QRIS Credit Card</c:v>
                </c:pt>
                <c:pt idx="7">
                  <c:v>QRIS CPM</c:v>
                </c:pt>
                <c:pt idx="8">
                  <c:v>Cardless Withdrawal</c:v>
                </c:pt>
                <c:pt idx="9">
                  <c:v>Debit Online</c:v>
                </c:pt>
              </c:strCache>
            </c:strRef>
          </c:cat>
          <c:val>
            <c:numRef>
              <c:f>'[01b. Excel Dashboard - -13 May 2026.xlsx]Summary on Project Status'!$E$18:$E$27</c:f>
              <c:numCache>
                <c:formatCode>0%</c:formatCode>
                <c:ptCount val="10"/>
                <c:pt idx="0">
                  <c:v>0.91</c:v>
                </c:pt>
                <c:pt idx="1">
                  <c:v>0.48499999999999999</c:v>
                </c:pt>
                <c:pt idx="2">
                  <c:v>0.87</c:v>
                </c:pt>
                <c:pt idx="3">
                  <c:v>0.91</c:v>
                </c:pt>
                <c:pt idx="4">
                  <c:v>0.91</c:v>
                </c:pt>
                <c:pt idx="5">
                  <c:v>0.75</c:v>
                </c:pt>
                <c:pt idx="6">
                  <c:v>0.75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9-453D-B883-1C0368A57BDD}"/>
            </c:ext>
          </c:extLst>
        </c:ser>
        <c:ser>
          <c:idx val="1"/>
          <c:order val="1"/>
          <c:tx>
            <c:strRef>
              <c:f>'[01b. Excel Dashboard - -13 May 2026.xlsx]Summary on Project Status'!$F$17</c:f>
              <c:strCache>
                <c:ptCount val="1"/>
                <c:pt idx="0">
                  <c:v>Targeted Timeline</c:v>
                </c:pt>
              </c:strCache>
            </c:strRef>
          </c:tx>
          <c:spPr>
            <a:solidFill>
              <a:srgbClr val="00206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Status'!$D$18:$D$27</c:f>
              <c:strCache>
                <c:ptCount val="10"/>
                <c:pt idx="0">
                  <c:v>Data Center Migration</c:v>
                </c:pt>
                <c:pt idx="1">
                  <c:v>Fraud Detection System (FDS)</c:v>
                </c:pt>
                <c:pt idx="2">
                  <c:v>OPICS</c:v>
                </c:pt>
                <c:pt idx="3">
                  <c:v>Enhancement RTGS</c:v>
                </c:pt>
                <c:pt idx="4">
                  <c:v>QRIS Acquiring</c:v>
                </c:pt>
                <c:pt idx="5">
                  <c:v>QRIS CPM</c:v>
                </c:pt>
                <c:pt idx="6">
                  <c:v>QRIS Credit Card</c:v>
                </c:pt>
                <c:pt idx="7">
                  <c:v>QRIS CPM</c:v>
                </c:pt>
                <c:pt idx="8">
                  <c:v>Cardless Withdrawal</c:v>
                </c:pt>
                <c:pt idx="9">
                  <c:v>Debit Online</c:v>
                </c:pt>
              </c:strCache>
            </c:strRef>
          </c:cat>
          <c:val>
            <c:numRef>
              <c:f>'[01b. Excel Dashboard - -13 May 2026.xlsx]Summary on Project Status'!$F$18:$F$27</c:f>
              <c:numCache>
                <c:formatCode>0%</c:formatCode>
                <c:ptCount val="10"/>
                <c:pt idx="0">
                  <c:v>1</c:v>
                </c:pt>
                <c:pt idx="1">
                  <c:v>0.56000000000000005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0.75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49-453D-B883-1C0368A57BD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6433752"/>
        <c:axId val="326435720"/>
      </c:barChart>
      <c:catAx>
        <c:axId val="326433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435720"/>
        <c:crosses val="autoZero"/>
        <c:auto val="1"/>
        <c:lblAlgn val="ctr"/>
        <c:lblOffset val="100"/>
        <c:noMultiLvlLbl val="0"/>
      </c:catAx>
      <c:valAx>
        <c:axId val="326435720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26433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93</c:v>
                </c:pt>
                <c:pt idx="1">
                  <c:v>3</c:v>
                </c:pt>
                <c:pt idx="2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0.65720000000000001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'[05a. Excel Dashboard ver 23 Feb 2026.xlsx]Progress DC &amp; DRC'!$I$3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DD-4FC2-9688-DD623C0D2D57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DD-4FC2-9688-DD623C0D2D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DD-4FC2-9688-DD623C0D2D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CDD-4FC2-9688-DD623C0D2D57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CDD-4FC2-9688-DD623C0D2D57}"/>
              </c:ext>
            </c:extLst>
          </c:dPt>
          <c:val>
            <c:numRef>
              <c:f>'[05a. Excel Dashboard ver 23 Feb 2026.xlsx]Progress DC &amp; DRC'!$J$4:$J$8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CDD-4FC2-9688-DD623C0D2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'[05a. Excel Dashboard ver 23 Feb 2026.xlsx]Progress DC &amp; DRC'!$L$3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CDD-4FC2-9688-DD623C0D2D57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0CDD-4FC2-9688-DD623C0D2D57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0CDD-4FC2-9688-DD623C0D2D57}"/>
              </c:ext>
            </c:extLst>
          </c:dPt>
          <c:val>
            <c:numRef>
              <c:f>'[05a. Excel Dashboard ver 23 Feb 2026.xlsx]Progress DC &amp; DRC'!$M$4:$M$6</c:f>
              <c:numCache>
                <c:formatCode>0</c:formatCode>
                <c:ptCount val="3"/>
                <c:pt idx="0">
                  <c:v>90</c:v>
                </c:pt>
                <c:pt idx="1">
                  <c:v>3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0CDD-4FC2-9688-DD623C0D2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DC Migration'!$C$26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DC Migration'!$E$25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DC Migration'!$E$26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98-4A75-840F-0048CF41BB47}"/>
            </c:ext>
          </c:extLst>
        </c:ser>
        <c:ser>
          <c:idx val="1"/>
          <c:order val="1"/>
          <c:tx>
            <c:strRef>
              <c:f>'[01b. Graphic Timeline &amp; Budget Projects - 06 May 2026.xlsx]Graphic -  DC Migration'!$C$27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DC Migration'!$E$25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DC Migration'!$E$27</c:f>
              <c:numCache>
                <c:formatCode>0%</c:formatCode>
                <c:ptCount val="1"/>
                <c:pt idx="0">
                  <c:v>0.87900993393625104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98-4A75-840F-0048CF41BB4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'[01c. Excel Dashboard Detail Timeline &amp; Budget - 29th May2026.xlsx]Graphic -  RTGS'!$C$10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'[01c. Excel Dashboard Detail Timeline &amp; Budget - 29th May2026.xlsx]Graphic -  RTGS'!$E$9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'[01c. Excel Dashboard Detail Timeline &amp; Budget - 29th May2026.xlsx]Graphic -  RTGS'!$E$10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1A-4372-8AF2-7BAEB0C455BA}"/>
            </c:ext>
          </c:extLst>
        </c:ser>
        <c:ser>
          <c:idx val="1"/>
          <c:order val="1"/>
          <c:tx>
            <c:strRef>
              <c:f>'[01c. Excel Dashboard Detail Timeline &amp; Budget - 29th May2026.xlsx]Graphic -  RTGS'!$C$11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'[01c. Excel Dashboard Detail Timeline &amp; Budget - 29th May2026.xlsx]Graphic -  RTGS'!$E$9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'[01c. Excel Dashboard Detail Timeline &amp; Budget - 29th May2026.xlsx]Graphic -  RTGS'!$E$11</c:f>
              <c:numCache>
                <c:formatCode>0.00%</c:formatCode>
                <c:ptCount val="1"/>
                <c:pt idx="0">
                  <c:v>0.95238095238095233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1A-4372-8AF2-7BAEB0C455B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.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120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5" name="Google Shape;715;p121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22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29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1" name="Google Shape;941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1" name="Google Shape;951;p130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535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22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8343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3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8" name="Google Shape;758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124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7654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title"/>
          </p:nvPr>
        </p:nvSpPr>
        <p:spPr>
          <a:xfrm>
            <a:off x="415611" y="992767"/>
            <a:ext cx="11360802" cy="273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1"/>
          </p:nvPr>
        </p:nvSpPr>
        <p:spPr>
          <a:xfrm>
            <a:off x="415600" y="3778832"/>
            <a:ext cx="11360802" cy="105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5" descr="Pictur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5"/>
          <p:cNvSpPr txBox="1">
            <a:spLocks noGrp="1"/>
          </p:cNvSpPr>
          <p:nvPr>
            <p:ph type="title"/>
          </p:nvPr>
        </p:nvSpPr>
        <p:spPr>
          <a:xfrm>
            <a:off x="5645425" y="1122362"/>
            <a:ext cx="6133866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body" idx="1"/>
          </p:nvPr>
        </p:nvSpPr>
        <p:spPr>
          <a:xfrm>
            <a:off x="5645422" y="3602037"/>
            <a:ext cx="6133866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6" descr="Picture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5"/>
            <a:ext cx="12194748" cy="70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6"/>
          <p:cNvSpPr txBox="1">
            <a:spLocks noGrp="1"/>
          </p:cNvSpPr>
          <p:nvPr>
            <p:ph type="title"/>
          </p:nvPr>
        </p:nvSpPr>
        <p:spPr>
          <a:xfrm>
            <a:off x="6321287" y="1122362"/>
            <a:ext cx="5458003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1"/>
          </p:nvPr>
        </p:nvSpPr>
        <p:spPr>
          <a:xfrm>
            <a:off x="6321285" y="3602037"/>
            <a:ext cx="5458003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7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838200" y="1181337"/>
            <a:ext cx="5181600" cy="49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8" descr="Pictur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839787" y="1209740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72200" y="1209740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0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0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2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2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>
            <a:spLocks noGrp="1"/>
          </p:cNvSpPr>
          <p:nvPr>
            <p:ph type="title"/>
          </p:nvPr>
        </p:nvSpPr>
        <p:spPr>
          <a:xfrm>
            <a:off x="415600" y="2867798"/>
            <a:ext cx="11360802" cy="11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3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1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 sz="1400">
                <a:solidFill>
                  <a:srgbClr val="595959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 sz="1400">
                <a:solidFill>
                  <a:srgbClr val="595959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 sz="1400">
                <a:solidFill>
                  <a:srgbClr val="595959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 sz="1400">
                <a:solidFill>
                  <a:srgbClr val="595959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 sz="14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body" idx="2"/>
          </p:nvPr>
        </p:nvSpPr>
        <p:spPr>
          <a:xfrm>
            <a:off x="6443200" y="1536631"/>
            <a:ext cx="5333201" cy="455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6"/>
          <p:cNvSpPr txBox="1">
            <a:spLocks noGrp="1"/>
          </p:cNvSpPr>
          <p:nvPr>
            <p:ph type="title"/>
          </p:nvPr>
        </p:nvSpPr>
        <p:spPr>
          <a:xfrm>
            <a:off x="415600" y="740799"/>
            <a:ext cx="3744001" cy="10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1" cy="423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  <a:defRPr sz="1200">
                <a:solidFill>
                  <a:srgbClr val="595959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  <a:defRPr sz="1200">
                <a:solidFill>
                  <a:srgbClr val="595959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■"/>
              <a:defRPr sz="1200">
                <a:solidFill>
                  <a:srgbClr val="595959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  <a:defRPr sz="1200">
                <a:solidFill>
                  <a:srgbClr val="595959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  <a:defRPr sz="12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7"/>
          <p:cNvSpPr txBox="1">
            <a:spLocks noGrp="1"/>
          </p:cNvSpPr>
          <p:nvPr>
            <p:ph type="title"/>
          </p:nvPr>
        </p:nvSpPr>
        <p:spPr>
          <a:xfrm>
            <a:off x="653666" y="600199"/>
            <a:ext cx="8490402" cy="545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7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8"/>
          <p:cNvSpPr/>
          <p:nvPr/>
        </p:nvSpPr>
        <p:spPr>
          <a:xfrm>
            <a:off x="6096000" y="-167"/>
            <a:ext cx="6096000" cy="68580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8"/>
          <p:cNvSpPr txBox="1">
            <a:spLocks noGrp="1"/>
          </p:cNvSpPr>
          <p:nvPr>
            <p:ph type="title"/>
          </p:nvPr>
        </p:nvSpPr>
        <p:spPr>
          <a:xfrm>
            <a:off x="354000" y="1644232"/>
            <a:ext cx="5393600" cy="19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body" idx="1"/>
          </p:nvPr>
        </p:nvSpPr>
        <p:spPr>
          <a:xfrm>
            <a:off x="354000" y="3737433"/>
            <a:ext cx="5393600" cy="164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2" cy="492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8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9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401" cy="8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  <a:defRPr>
                <a:solidFill>
                  <a:srgbClr val="595959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■"/>
              <a:defRPr>
                <a:solidFill>
                  <a:srgbClr val="595959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>
                <a:solidFill>
                  <a:srgbClr val="595959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9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0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2" cy="261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2" cy="173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■"/>
              <a:defRPr>
                <a:solidFill>
                  <a:srgbClr val="595959"/>
                </a:solidFill>
              </a:defRPr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60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1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91" name="Google Shape;91;p61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2"/>
            <a:ext cx="12189632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61" descr="Picture 8"/>
          <p:cNvPicPr preferRelativeResize="0"/>
          <p:nvPr/>
        </p:nvPicPr>
        <p:blipFill rotWithShape="1">
          <a:blip r:embed="rId3">
            <a:alphaModFix/>
          </a:blip>
          <a:srcRect l="389" b="648"/>
          <a:stretch/>
        </p:blipFill>
        <p:spPr>
          <a:xfrm>
            <a:off x="-2" y="0"/>
            <a:ext cx="121896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61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2" y="-2"/>
            <a:ext cx="12195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1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2"/>
          <p:cNvSpPr>
            <a:spLocks noGrp="1"/>
          </p:cNvSpPr>
          <p:nvPr>
            <p:ph type="pic" idx="2"/>
          </p:nvPr>
        </p:nvSpPr>
        <p:spPr>
          <a:xfrm>
            <a:off x="11015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2"/>
          <p:cNvSpPr>
            <a:spLocks noGrp="1"/>
          </p:cNvSpPr>
          <p:nvPr>
            <p:ph type="pic" idx="3"/>
          </p:nvPr>
        </p:nvSpPr>
        <p:spPr>
          <a:xfrm>
            <a:off x="282688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62"/>
          <p:cNvSpPr>
            <a:spLocks noGrp="1"/>
          </p:cNvSpPr>
          <p:nvPr>
            <p:ph type="pic" idx="4"/>
          </p:nvPr>
        </p:nvSpPr>
        <p:spPr>
          <a:xfrm>
            <a:off x="4595221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62"/>
          <p:cNvSpPr>
            <a:spLocks noGrp="1"/>
          </p:cNvSpPr>
          <p:nvPr>
            <p:ph type="pic" idx="5"/>
          </p:nvPr>
        </p:nvSpPr>
        <p:spPr>
          <a:xfrm>
            <a:off x="6361343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62"/>
          <p:cNvSpPr>
            <a:spLocks noGrp="1"/>
          </p:cNvSpPr>
          <p:nvPr>
            <p:ph type="pic" idx="6"/>
          </p:nvPr>
        </p:nvSpPr>
        <p:spPr>
          <a:xfrm>
            <a:off x="81274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62"/>
          <p:cNvSpPr>
            <a:spLocks noGrp="1"/>
          </p:cNvSpPr>
          <p:nvPr>
            <p:ph type="pic" idx="7"/>
          </p:nvPr>
        </p:nvSpPr>
        <p:spPr>
          <a:xfrm>
            <a:off x="9893588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pic>
        <p:nvPicPr>
          <p:cNvPr id="102" name="Google Shape;102;p62" descr="Picture 4"/>
          <p:cNvPicPr preferRelativeResize="0"/>
          <p:nvPr/>
        </p:nvPicPr>
        <p:blipFill rotWithShape="1">
          <a:blip r:embed="rId2">
            <a:alphaModFix/>
          </a:blip>
          <a:srcRect l="352" b="853"/>
          <a:stretch/>
        </p:blipFill>
        <p:spPr>
          <a:xfrm>
            <a:off x="0" y="-1"/>
            <a:ext cx="1218951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2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3"/>
          <p:cNvSpPr>
            <a:spLocks noGrp="1"/>
          </p:cNvSpPr>
          <p:nvPr>
            <p:ph type="pic" idx="2"/>
          </p:nvPr>
        </p:nvSpPr>
        <p:spPr>
          <a:xfrm>
            <a:off x="890218" y="5235554"/>
            <a:ext cx="810002" cy="810002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63"/>
          <p:cNvSpPr>
            <a:spLocks noGrp="1"/>
          </p:cNvSpPr>
          <p:nvPr>
            <p:ph type="pic" idx="3"/>
          </p:nvPr>
        </p:nvSpPr>
        <p:spPr>
          <a:xfrm>
            <a:off x="2800355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63"/>
          <p:cNvSpPr>
            <a:spLocks noGrp="1"/>
          </p:cNvSpPr>
          <p:nvPr>
            <p:ph type="pic" idx="4"/>
          </p:nvPr>
        </p:nvSpPr>
        <p:spPr>
          <a:xfrm>
            <a:off x="4727816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63"/>
          <p:cNvSpPr>
            <a:spLocks noGrp="1"/>
          </p:cNvSpPr>
          <p:nvPr>
            <p:ph type="pic" idx="5"/>
          </p:nvPr>
        </p:nvSpPr>
        <p:spPr>
          <a:xfrm>
            <a:off x="6637952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63"/>
          <p:cNvSpPr>
            <a:spLocks noGrp="1"/>
          </p:cNvSpPr>
          <p:nvPr>
            <p:ph type="pic" idx="6"/>
          </p:nvPr>
        </p:nvSpPr>
        <p:spPr>
          <a:xfrm>
            <a:off x="8565414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63"/>
          <p:cNvSpPr>
            <a:spLocks noGrp="1"/>
          </p:cNvSpPr>
          <p:nvPr>
            <p:ph type="pic" idx="7"/>
          </p:nvPr>
        </p:nvSpPr>
        <p:spPr>
          <a:xfrm>
            <a:off x="10475551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63"/>
          <p:cNvSpPr>
            <a:spLocks noGrp="1"/>
          </p:cNvSpPr>
          <p:nvPr>
            <p:ph type="pic" idx="8"/>
          </p:nvPr>
        </p:nvSpPr>
        <p:spPr>
          <a:xfrm>
            <a:off x="1709577" y="3238850"/>
            <a:ext cx="1080004" cy="1080002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63"/>
          <p:cNvSpPr>
            <a:spLocks noGrp="1"/>
          </p:cNvSpPr>
          <p:nvPr>
            <p:ph type="pic" idx="9"/>
          </p:nvPr>
        </p:nvSpPr>
        <p:spPr>
          <a:xfrm>
            <a:off x="5547176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63"/>
          <p:cNvSpPr>
            <a:spLocks noGrp="1"/>
          </p:cNvSpPr>
          <p:nvPr>
            <p:ph type="pic" idx="13"/>
          </p:nvPr>
        </p:nvSpPr>
        <p:spPr>
          <a:xfrm>
            <a:off x="9384772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63"/>
          <p:cNvSpPr>
            <a:spLocks noGrp="1"/>
          </p:cNvSpPr>
          <p:nvPr>
            <p:ph type="pic" idx="14"/>
          </p:nvPr>
        </p:nvSpPr>
        <p:spPr>
          <a:xfrm>
            <a:off x="5410791" y="1012531"/>
            <a:ext cx="1312734" cy="1306803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63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4"/>
          <p:cNvSpPr>
            <a:spLocks noGrp="1"/>
          </p:cNvSpPr>
          <p:nvPr>
            <p:ph type="pic" idx="2"/>
          </p:nvPr>
        </p:nvSpPr>
        <p:spPr>
          <a:xfrm>
            <a:off x="184597" y="0"/>
            <a:ext cx="328930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64"/>
          <p:cNvSpPr>
            <a:spLocks noGrp="1"/>
          </p:cNvSpPr>
          <p:nvPr>
            <p:ph type="pic" idx="3"/>
          </p:nvPr>
        </p:nvSpPr>
        <p:spPr>
          <a:xfrm>
            <a:off x="8718101" y="0"/>
            <a:ext cx="328930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64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5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entury Gothic"/>
              <a:buNone/>
              <a:defRPr sz="6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5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6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6"/>
          <p:cNvSpPr>
            <a:spLocks noGrp="1"/>
          </p:cNvSpPr>
          <p:nvPr>
            <p:ph type="pic" idx="2"/>
          </p:nvPr>
        </p:nvSpPr>
        <p:spPr>
          <a:xfrm>
            <a:off x="4689138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66"/>
          <p:cNvSpPr>
            <a:spLocks noGrp="1"/>
          </p:cNvSpPr>
          <p:nvPr>
            <p:ph type="pic" idx="3"/>
          </p:nvPr>
        </p:nvSpPr>
        <p:spPr>
          <a:xfrm>
            <a:off x="1125881" y="2491270"/>
            <a:ext cx="2807037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66"/>
          <p:cNvSpPr>
            <a:spLocks noGrp="1"/>
          </p:cNvSpPr>
          <p:nvPr>
            <p:ph type="pic" idx="4"/>
          </p:nvPr>
        </p:nvSpPr>
        <p:spPr>
          <a:xfrm>
            <a:off x="8252396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6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7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2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67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3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8"/>
          <p:cNvSpPr txBox="1">
            <a:spLocks noGrp="1"/>
          </p:cNvSpPr>
          <p:nvPr>
            <p:ph type="title"/>
          </p:nvPr>
        </p:nvSpPr>
        <p:spPr>
          <a:xfrm>
            <a:off x="415611" y="992767"/>
            <a:ext cx="11360802" cy="273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sz="6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8"/>
          <p:cNvSpPr txBox="1">
            <a:spLocks noGrp="1"/>
          </p:cNvSpPr>
          <p:nvPr>
            <p:ph type="body" idx="1"/>
          </p:nvPr>
        </p:nvSpPr>
        <p:spPr>
          <a:xfrm>
            <a:off x="415600" y="3778832"/>
            <a:ext cx="11360802" cy="105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68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9"/>
          <p:cNvSpPr txBox="1">
            <a:spLocks noGrp="1"/>
          </p:cNvSpPr>
          <p:nvPr>
            <p:ph type="title"/>
          </p:nvPr>
        </p:nvSpPr>
        <p:spPr>
          <a:xfrm>
            <a:off x="415600" y="2867798"/>
            <a:ext cx="11360802" cy="11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9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 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■"/>
              <a:defRPr>
                <a:solidFill>
                  <a:srgbClr val="595959"/>
                </a:solidFill>
              </a:defRPr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70"/>
          <p:cNvSpPr txBox="1">
            <a:spLocks noGrp="1"/>
          </p:cNvSpPr>
          <p:nvPr>
            <p:ph type="body" idx="2"/>
          </p:nvPr>
        </p:nvSpPr>
        <p:spPr>
          <a:xfrm>
            <a:off x="6443200" y="1536631"/>
            <a:ext cx="5333201" cy="455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70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71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 2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2"/>
          <p:cNvSpPr txBox="1">
            <a:spLocks noGrp="1"/>
          </p:cNvSpPr>
          <p:nvPr>
            <p:ph type="title"/>
          </p:nvPr>
        </p:nvSpPr>
        <p:spPr>
          <a:xfrm>
            <a:off x="415600" y="740799"/>
            <a:ext cx="3744001" cy="10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2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1" cy="423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>
                <a:solidFill>
                  <a:srgbClr val="595959"/>
                </a:solidFill>
              </a:defRPr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  <a:defRPr sz="1600">
                <a:solidFill>
                  <a:srgbClr val="595959"/>
                </a:solidFill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■"/>
              <a:defRPr sz="1600">
                <a:solidFill>
                  <a:srgbClr val="595959"/>
                </a:solidFill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>
                <a:solidFill>
                  <a:srgbClr val="595959"/>
                </a:solidFill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  <a:defRPr sz="16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72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 2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3"/>
          <p:cNvSpPr txBox="1">
            <a:spLocks noGrp="1"/>
          </p:cNvSpPr>
          <p:nvPr>
            <p:ph type="title"/>
          </p:nvPr>
        </p:nvSpPr>
        <p:spPr>
          <a:xfrm>
            <a:off x="653666" y="600199"/>
            <a:ext cx="8490402" cy="545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73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4"/>
          <p:cNvSpPr/>
          <p:nvPr/>
        </p:nvSpPr>
        <p:spPr>
          <a:xfrm>
            <a:off x="6096000" y="-167"/>
            <a:ext cx="6096000" cy="68580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4"/>
          <p:cNvSpPr txBox="1">
            <a:spLocks noGrp="1"/>
          </p:cNvSpPr>
          <p:nvPr>
            <p:ph type="title"/>
          </p:nvPr>
        </p:nvSpPr>
        <p:spPr>
          <a:xfrm>
            <a:off x="354000" y="1644232"/>
            <a:ext cx="5393600" cy="19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4"/>
          <p:cNvSpPr txBox="1">
            <a:spLocks noGrp="1"/>
          </p:cNvSpPr>
          <p:nvPr>
            <p:ph type="body" idx="1"/>
          </p:nvPr>
        </p:nvSpPr>
        <p:spPr>
          <a:xfrm>
            <a:off x="354000" y="3737433"/>
            <a:ext cx="5393600" cy="164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7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2" cy="492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74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 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5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401" cy="8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>
                <a:solidFill>
                  <a:srgbClr val="595959"/>
                </a:solidFill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○"/>
              <a:defRPr sz="2400">
                <a:solidFill>
                  <a:srgbClr val="595959"/>
                </a:solidFill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■"/>
              <a:defRPr sz="2400">
                <a:solidFill>
                  <a:srgbClr val="595959"/>
                </a:solidFill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●"/>
              <a:defRPr sz="2400">
                <a:solidFill>
                  <a:srgbClr val="595959"/>
                </a:solidFill>
              </a:defRPr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○"/>
              <a:defRPr sz="24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75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6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2" cy="261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  <a:defRPr sz="1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76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2" cy="173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>
                <a:solidFill>
                  <a:srgbClr val="595959"/>
                </a:solidFill>
              </a:defRPr>
            </a:lvl1pPr>
            <a:lvl2pPr marL="914400" lvl="1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○"/>
              <a:defRPr sz="2400">
                <a:solidFill>
                  <a:srgbClr val="595959"/>
                </a:solidFill>
              </a:defRPr>
            </a:lvl2pPr>
            <a:lvl3pPr marL="1371600" lvl="2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■"/>
              <a:defRPr sz="2400">
                <a:solidFill>
                  <a:srgbClr val="595959"/>
                </a:solidFill>
              </a:defRPr>
            </a:lvl3pPr>
            <a:lvl4pPr marL="1828800" lvl="3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>
                <a:solidFill>
                  <a:srgbClr val="595959"/>
                </a:solidFill>
              </a:defRPr>
            </a:lvl4pPr>
            <a:lvl5pPr marL="2286000" lvl="4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○"/>
              <a:defRPr sz="24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76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77" descr="Pictur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7"/>
          <p:cNvSpPr txBox="1">
            <a:spLocks noGrp="1"/>
          </p:cNvSpPr>
          <p:nvPr>
            <p:ph type="title"/>
          </p:nvPr>
        </p:nvSpPr>
        <p:spPr>
          <a:xfrm>
            <a:off x="5645425" y="1122362"/>
            <a:ext cx="6133866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7"/>
          <p:cNvSpPr txBox="1">
            <a:spLocks noGrp="1"/>
          </p:cNvSpPr>
          <p:nvPr>
            <p:ph type="body" idx="1"/>
          </p:nvPr>
        </p:nvSpPr>
        <p:spPr>
          <a:xfrm>
            <a:off x="5645422" y="3602037"/>
            <a:ext cx="6133866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7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78" descr="Picture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5"/>
            <a:ext cx="12194748" cy="70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8"/>
          <p:cNvSpPr txBox="1">
            <a:spLocks noGrp="1"/>
          </p:cNvSpPr>
          <p:nvPr>
            <p:ph type="title"/>
          </p:nvPr>
        </p:nvSpPr>
        <p:spPr>
          <a:xfrm>
            <a:off x="6321287" y="1122362"/>
            <a:ext cx="5458003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78"/>
          <p:cNvSpPr txBox="1">
            <a:spLocks noGrp="1"/>
          </p:cNvSpPr>
          <p:nvPr>
            <p:ph type="body" idx="1"/>
          </p:nvPr>
        </p:nvSpPr>
        <p:spPr>
          <a:xfrm>
            <a:off x="6321285" y="3602037"/>
            <a:ext cx="5458003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7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 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79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9"/>
          <p:cNvSpPr txBox="1">
            <a:spLocks noGrp="1"/>
          </p:cNvSpPr>
          <p:nvPr>
            <p:ph type="body" idx="1"/>
          </p:nvPr>
        </p:nvSpPr>
        <p:spPr>
          <a:xfrm>
            <a:off x="838200" y="1181337"/>
            <a:ext cx="5181600" cy="49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79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79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80" descr="Pictur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0"/>
          <p:cNvSpPr txBox="1">
            <a:spLocks noGrp="1"/>
          </p:cNvSpPr>
          <p:nvPr>
            <p:ph type="body" idx="1"/>
          </p:nvPr>
        </p:nvSpPr>
        <p:spPr>
          <a:xfrm>
            <a:off x="839787" y="1209740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80"/>
          <p:cNvSpPr txBox="1">
            <a:spLocks noGrp="1"/>
          </p:cNvSpPr>
          <p:nvPr>
            <p:ph type="body" idx="2"/>
          </p:nvPr>
        </p:nvSpPr>
        <p:spPr>
          <a:xfrm>
            <a:off x="6172200" y="1209740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80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80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8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3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82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2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 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83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83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83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 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8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8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84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86" descr="Google Shape;6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6"/>
          <p:cNvSpPr txBox="1">
            <a:spLocks noGrp="1"/>
          </p:cNvSpPr>
          <p:nvPr>
            <p:ph type="title"/>
          </p:nvPr>
        </p:nvSpPr>
        <p:spPr>
          <a:xfrm>
            <a:off x="5645425" y="1122362"/>
            <a:ext cx="6133866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86"/>
          <p:cNvSpPr txBox="1">
            <a:spLocks noGrp="1"/>
          </p:cNvSpPr>
          <p:nvPr>
            <p:ph type="body" idx="1"/>
          </p:nvPr>
        </p:nvSpPr>
        <p:spPr>
          <a:xfrm>
            <a:off x="5645422" y="3602037"/>
            <a:ext cx="6133866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86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3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7" descr="Google Shape;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5"/>
            <a:ext cx="12194748" cy="70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7"/>
          <p:cNvSpPr txBox="1">
            <a:spLocks noGrp="1"/>
          </p:cNvSpPr>
          <p:nvPr>
            <p:ph type="title"/>
          </p:nvPr>
        </p:nvSpPr>
        <p:spPr>
          <a:xfrm>
            <a:off x="6321287" y="1122362"/>
            <a:ext cx="5458003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87"/>
          <p:cNvSpPr txBox="1">
            <a:spLocks noGrp="1"/>
          </p:cNvSpPr>
          <p:nvPr>
            <p:ph type="body" idx="1"/>
          </p:nvPr>
        </p:nvSpPr>
        <p:spPr>
          <a:xfrm>
            <a:off x="6321285" y="3602037"/>
            <a:ext cx="5458003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87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88" descr="Google Shape;7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8"/>
          <p:cNvSpPr txBox="1">
            <a:spLocks noGrp="1"/>
          </p:cNvSpPr>
          <p:nvPr>
            <p:ph type="body" idx="1"/>
          </p:nvPr>
        </p:nvSpPr>
        <p:spPr>
          <a:xfrm>
            <a:off x="838200" y="1181337"/>
            <a:ext cx="5181600" cy="49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88"/>
          <p:cNvSpPr txBox="1">
            <a:spLocks noGrp="1"/>
          </p:cNvSpPr>
          <p:nvPr>
            <p:ph type="body" idx="2"/>
          </p:nvPr>
        </p:nvSpPr>
        <p:spPr>
          <a:xfrm>
            <a:off x="6172200" y="1181336"/>
            <a:ext cx="5181600" cy="49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88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88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 3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89" descr="Google Shape;8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9"/>
          <p:cNvSpPr txBox="1">
            <a:spLocks noGrp="1"/>
          </p:cNvSpPr>
          <p:nvPr>
            <p:ph type="body" idx="1"/>
          </p:nvPr>
        </p:nvSpPr>
        <p:spPr>
          <a:xfrm>
            <a:off x="839787" y="1209740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89"/>
          <p:cNvSpPr txBox="1">
            <a:spLocks noGrp="1"/>
          </p:cNvSpPr>
          <p:nvPr>
            <p:ph type="body" idx="2"/>
          </p:nvPr>
        </p:nvSpPr>
        <p:spPr>
          <a:xfrm>
            <a:off x="839787" y="2033652"/>
            <a:ext cx="5157788" cy="415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89"/>
          <p:cNvSpPr txBox="1">
            <a:spLocks noGrp="1"/>
          </p:cNvSpPr>
          <p:nvPr>
            <p:ph type="body" idx="3"/>
          </p:nvPr>
        </p:nvSpPr>
        <p:spPr>
          <a:xfrm>
            <a:off x="6172200" y="1209740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89"/>
          <p:cNvSpPr txBox="1">
            <a:spLocks noGrp="1"/>
          </p:cNvSpPr>
          <p:nvPr>
            <p:ph type="body" idx="4"/>
          </p:nvPr>
        </p:nvSpPr>
        <p:spPr>
          <a:xfrm>
            <a:off x="6172200" y="2033652"/>
            <a:ext cx="5183188" cy="415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89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89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3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90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4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91" descr="Google Shape;10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1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 3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9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92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92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 3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93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3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93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94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4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94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5"/>
          <p:cNvSpPr txBox="1">
            <a:spLocks noGrp="1"/>
          </p:cNvSpPr>
          <p:nvPr>
            <p:ph type="title"/>
          </p:nvPr>
        </p:nvSpPr>
        <p:spPr>
          <a:xfrm rot="5400000">
            <a:off x="7133431" y="1956592"/>
            <a:ext cx="5811840" cy="262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9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95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5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96" descr="Picture 5"/>
          <p:cNvPicPr preferRelativeResize="0"/>
          <p:nvPr/>
        </p:nvPicPr>
        <p:blipFill rotWithShape="1">
          <a:blip r:embed="rId2">
            <a:alphaModFix/>
          </a:blip>
          <a:srcRect l="434" b="767"/>
          <a:stretch/>
        </p:blipFill>
        <p:spPr>
          <a:xfrm>
            <a:off x="0" y="-3"/>
            <a:ext cx="12189632" cy="68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 2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7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8" name="Google Shape;258;p97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2"/>
            <a:ext cx="12189632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97" descr="Picture 8"/>
          <p:cNvPicPr preferRelativeResize="0"/>
          <p:nvPr/>
        </p:nvPicPr>
        <p:blipFill rotWithShape="1">
          <a:blip r:embed="rId3">
            <a:alphaModFix/>
          </a:blip>
          <a:srcRect l="389" b="648"/>
          <a:stretch/>
        </p:blipFill>
        <p:spPr>
          <a:xfrm>
            <a:off x="-2" y="0"/>
            <a:ext cx="121896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97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2" y="-2"/>
            <a:ext cx="12195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7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 2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8"/>
          <p:cNvSpPr>
            <a:spLocks noGrp="1"/>
          </p:cNvSpPr>
          <p:nvPr>
            <p:ph type="pic" idx="2"/>
          </p:nvPr>
        </p:nvSpPr>
        <p:spPr>
          <a:xfrm>
            <a:off x="11015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98"/>
          <p:cNvSpPr>
            <a:spLocks noGrp="1"/>
          </p:cNvSpPr>
          <p:nvPr>
            <p:ph type="pic" idx="3"/>
          </p:nvPr>
        </p:nvSpPr>
        <p:spPr>
          <a:xfrm>
            <a:off x="282688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98"/>
          <p:cNvSpPr>
            <a:spLocks noGrp="1"/>
          </p:cNvSpPr>
          <p:nvPr>
            <p:ph type="pic" idx="4"/>
          </p:nvPr>
        </p:nvSpPr>
        <p:spPr>
          <a:xfrm>
            <a:off x="4595221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98"/>
          <p:cNvSpPr>
            <a:spLocks noGrp="1"/>
          </p:cNvSpPr>
          <p:nvPr>
            <p:ph type="pic" idx="5"/>
          </p:nvPr>
        </p:nvSpPr>
        <p:spPr>
          <a:xfrm>
            <a:off x="6361343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98"/>
          <p:cNvSpPr>
            <a:spLocks noGrp="1"/>
          </p:cNvSpPr>
          <p:nvPr>
            <p:ph type="pic" idx="6"/>
          </p:nvPr>
        </p:nvSpPr>
        <p:spPr>
          <a:xfrm>
            <a:off x="81274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98"/>
          <p:cNvSpPr>
            <a:spLocks noGrp="1"/>
          </p:cNvSpPr>
          <p:nvPr>
            <p:ph type="pic" idx="7"/>
          </p:nvPr>
        </p:nvSpPr>
        <p:spPr>
          <a:xfrm>
            <a:off x="9893588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pic>
        <p:nvPicPr>
          <p:cNvPr id="269" name="Google Shape;269;p98" descr="Picture 4"/>
          <p:cNvPicPr preferRelativeResize="0"/>
          <p:nvPr/>
        </p:nvPicPr>
        <p:blipFill rotWithShape="1">
          <a:blip r:embed="rId2">
            <a:alphaModFix/>
          </a:blip>
          <a:srcRect l="352" b="853"/>
          <a:stretch/>
        </p:blipFill>
        <p:spPr>
          <a:xfrm>
            <a:off x="0" y="-1"/>
            <a:ext cx="1218951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8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 2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9"/>
          <p:cNvSpPr>
            <a:spLocks noGrp="1"/>
          </p:cNvSpPr>
          <p:nvPr>
            <p:ph type="pic" idx="2"/>
          </p:nvPr>
        </p:nvSpPr>
        <p:spPr>
          <a:xfrm>
            <a:off x="890218" y="5235554"/>
            <a:ext cx="810002" cy="810002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99"/>
          <p:cNvSpPr>
            <a:spLocks noGrp="1"/>
          </p:cNvSpPr>
          <p:nvPr>
            <p:ph type="pic" idx="3"/>
          </p:nvPr>
        </p:nvSpPr>
        <p:spPr>
          <a:xfrm>
            <a:off x="2800355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99"/>
          <p:cNvSpPr>
            <a:spLocks noGrp="1"/>
          </p:cNvSpPr>
          <p:nvPr>
            <p:ph type="pic" idx="4"/>
          </p:nvPr>
        </p:nvSpPr>
        <p:spPr>
          <a:xfrm>
            <a:off x="4727816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99"/>
          <p:cNvSpPr>
            <a:spLocks noGrp="1"/>
          </p:cNvSpPr>
          <p:nvPr>
            <p:ph type="pic" idx="5"/>
          </p:nvPr>
        </p:nvSpPr>
        <p:spPr>
          <a:xfrm>
            <a:off x="6637952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99"/>
          <p:cNvSpPr>
            <a:spLocks noGrp="1"/>
          </p:cNvSpPr>
          <p:nvPr>
            <p:ph type="pic" idx="6"/>
          </p:nvPr>
        </p:nvSpPr>
        <p:spPr>
          <a:xfrm>
            <a:off x="8565414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99"/>
          <p:cNvSpPr>
            <a:spLocks noGrp="1"/>
          </p:cNvSpPr>
          <p:nvPr>
            <p:ph type="pic" idx="7"/>
          </p:nvPr>
        </p:nvSpPr>
        <p:spPr>
          <a:xfrm>
            <a:off x="10475551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99"/>
          <p:cNvSpPr>
            <a:spLocks noGrp="1"/>
          </p:cNvSpPr>
          <p:nvPr>
            <p:ph type="pic" idx="8"/>
          </p:nvPr>
        </p:nvSpPr>
        <p:spPr>
          <a:xfrm>
            <a:off x="1709577" y="3238850"/>
            <a:ext cx="1080004" cy="1080002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99"/>
          <p:cNvSpPr>
            <a:spLocks noGrp="1"/>
          </p:cNvSpPr>
          <p:nvPr>
            <p:ph type="pic" idx="9"/>
          </p:nvPr>
        </p:nvSpPr>
        <p:spPr>
          <a:xfrm>
            <a:off x="5547176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99"/>
          <p:cNvSpPr>
            <a:spLocks noGrp="1"/>
          </p:cNvSpPr>
          <p:nvPr>
            <p:ph type="pic" idx="13"/>
          </p:nvPr>
        </p:nvSpPr>
        <p:spPr>
          <a:xfrm>
            <a:off x="9384772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99"/>
          <p:cNvSpPr>
            <a:spLocks noGrp="1"/>
          </p:cNvSpPr>
          <p:nvPr>
            <p:ph type="pic" idx="14"/>
          </p:nvPr>
        </p:nvSpPr>
        <p:spPr>
          <a:xfrm>
            <a:off x="5410791" y="1012531"/>
            <a:ext cx="1312734" cy="1306803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99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 2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0"/>
          <p:cNvSpPr>
            <a:spLocks noGrp="1"/>
          </p:cNvSpPr>
          <p:nvPr>
            <p:ph type="pic" idx="2"/>
          </p:nvPr>
        </p:nvSpPr>
        <p:spPr>
          <a:xfrm>
            <a:off x="184597" y="0"/>
            <a:ext cx="328930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100"/>
          <p:cNvSpPr>
            <a:spLocks noGrp="1"/>
          </p:cNvSpPr>
          <p:nvPr>
            <p:ph type="pic" idx="3"/>
          </p:nvPr>
        </p:nvSpPr>
        <p:spPr>
          <a:xfrm>
            <a:off x="8718101" y="0"/>
            <a:ext cx="328930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100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5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01" descr="Picture 11"/>
          <p:cNvPicPr preferRelativeResize="0"/>
          <p:nvPr/>
        </p:nvPicPr>
        <p:blipFill rotWithShape="1">
          <a:blip r:embed="rId2">
            <a:alphaModFix/>
          </a:blip>
          <a:srcRect l="372" b="842"/>
          <a:stretch/>
        </p:blipFill>
        <p:spPr>
          <a:xfrm>
            <a:off x="0" y="-1"/>
            <a:ext cx="121896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0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101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 2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2"/>
          <p:cNvSpPr>
            <a:spLocks noGrp="1"/>
          </p:cNvSpPr>
          <p:nvPr>
            <p:ph type="pic" idx="2"/>
          </p:nvPr>
        </p:nvSpPr>
        <p:spPr>
          <a:xfrm>
            <a:off x="4689138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102"/>
          <p:cNvSpPr>
            <a:spLocks noGrp="1"/>
          </p:cNvSpPr>
          <p:nvPr>
            <p:ph type="pic" idx="3"/>
          </p:nvPr>
        </p:nvSpPr>
        <p:spPr>
          <a:xfrm>
            <a:off x="1125881" y="2491270"/>
            <a:ext cx="2807037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102"/>
          <p:cNvSpPr>
            <a:spLocks noGrp="1"/>
          </p:cNvSpPr>
          <p:nvPr>
            <p:ph type="pic" idx="4"/>
          </p:nvPr>
        </p:nvSpPr>
        <p:spPr>
          <a:xfrm>
            <a:off x="8252396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102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4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3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03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103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6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104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4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05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10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 4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106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 4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7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7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107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10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4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0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6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9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 4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0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10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110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110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 4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1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11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111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11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7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12" descr="Picture 5"/>
          <p:cNvPicPr preferRelativeResize="0"/>
          <p:nvPr/>
        </p:nvPicPr>
        <p:blipFill rotWithShape="1">
          <a:blip r:embed="rId2">
            <a:alphaModFix/>
          </a:blip>
          <a:srcRect l="434" b="767"/>
          <a:stretch/>
        </p:blipFill>
        <p:spPr>
          <a:xfrm>
            <a:off x="0" y="-3"/>
            <a:ext cx="12189632" cy="68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2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 4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3"/>
          <p:cNvSpPr>
            <a:spLocks noGrp="1"/>
          </p:cNvSpPr>
          <p:nvPr>
            <p:ph type="pic" idx="2"/>
          </p:nvPr>
        </p:nvSpPr>
        <p:spPr>
          <a:xfrm>
            <a:off x="5181598" y="2928597"/>
            <a:ext cx="2133603" cy="2130426"/>
          </a:xfrm>
          <a:prstGeom prst="rect">
            <a:avLst/>
          </a:prstGeom>
          <a:noFill/>
          <a:ln>
            <a:noFill/>
          </a:ln>
        </p:spPr>
      </p:sp>
      <p:pic>
        <p:nvPicPr>
          <p:cNvPr id="338" name="Google Shape;338;p113" descr="Picture 4"/>
          <p:cNvPicPr preferRelativeResize="0"/>
          <p:nvPr/>
        </p:nvPicPr>
        <p:blipFill rotWithShape="1">
          <a:blip r:embed="rId2">
            <a:alphaModFix/>
          </a:blip>
          <a:srcRect l="347" b="615"/>
          <a:stretch/>
        </p:blipFill>
        <p:spPr>
          <a:xfrm>
            <a:off x="-2" y="-2"/>
            <a:ext cx="1218963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3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 3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4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42" name="Google Shape;342;p114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2"/>
            <a:ext cx="12189632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14" descr="Picture 8"/>
          <p:cNvPicPr preferRelativeResize="0"/>
          <p:nvPr/>
        </p:nvPicPr>
        <p:blipFill rotWithShape="1">
          <a:blip r:embed="rId3">
            <a:alphaModFix/>
          </a:blip>
          <a:srcRect l="389" b="648"/>
          <a:stretch/>
        </p:blipFill>
        <p:spPr>
          <a:xfrm>
            <a:off x="-2" y="0"/>
            <a:ext cx="121896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14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2" y="-2"/>
            <a:ext cx="12195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4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 3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5"/>
          <p:cNvSpPr>
            <a:spLocks noGrp="1"/>
          </p:cNvSpPr>
          <p:nvPr>
            <p:ph type="pic" idx="2"/>
          </p:nvPr>
        </p:nvSpPr>
        <p:spPr>
          <a:xfrm>
            <a:off x="11015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115"/>
          <p:cNvSpPr>
            <a:spLocks noGrp="1"/>
          </p:cNvSpPr>
          <p:nvPr>
            <p:ph type="pic" idx="3"/>
          </p:nvPr>
        </p:nvSpPr>
        <p:spPr>
          <a:xfrm>
            <a:off x="282688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115"/>
          <p:cNvSpPr>
            <a:spLocks noGrp="1"/>
          </p:cNvSpPr>
          <p:nvPr>
            <p:ph type="pic" idx="4"/>
          </p:nvPr>
        </p:nvSpPr>
        <p:spPr>
          <a:xfrm>
            <a:off x="4595221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115"/>
          <p:cNvSpPr>
            <a:spLocks noGrp="1"/>
          </p:cNvSpPr>
          <p:nvPr>
            <p:ph type="pic" idx="5"/>
          </p:nvPr>
        </p:nvSpPr>
        <p:spPr>
          <a:xfrm>
            <a:off x="6361343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115"/>
          <p:cNvSpPr>
            <a:spLocks noGrp="1"/>
          </p:cNvSpPr>
          <p:nvPr>
            <p:ph type="pic" idx="6"/>
          </p:nvPr>
        </p:nvSpPr>
        <p:spPr>
          <a:xfrm>
            <a:off x="81274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115"/>
          <p:cNvSpPr>
            <a:spLocks noGrp="1"/>
          </p:cNvSpPr>
          <p:nvPr>
            <p:ph type="pic" idx="7"/>
          </p:nvPr>
        </p:nvSpPr>
        <p:spPr>
          <a:xfrm>
            <a:off x="9893588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pic>
        <p:nvPicPr>
          <p:cNvPr id="353" name="Google Shape;353;p115" descr="Picture 4"/>
          <p:cNvPicPr preferRelativeResize="0"/>
          <p:nvPr/>
        </p:nvPicPr>
        <p:blipFill rotWithShape="1">
          <a:blip r:embed="rId2">
            <a:alphaModFix/>
          </a:blip>
          <a:srcRect l="352" b="853"/>
          <a:stretch/>
        </p:blipFill>
        <p:spPr>
          <a:xfrm>
            <a:off x="0" y="-1"/>
            <a:ext cx="1218951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15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 3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6"/>
          <p:cNvSpPr>
            <a:spLocks noGrp="1"/>
          </p:cNvSpPr>
          <p:nvPr>
            <p:ph type="pic" idx="2"/>
          </p:nvPr>
        </p:nvSpPr>
        <p:spPr>
          <a:xfrm>
            <a:off x="890218" y="5235554"/>
            <a:ext cx="810002" cy="810002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116"/>
          <p:cNvSpPr>
            <a:spLocks noGrp="1"/>
          </p:cNvSpPr>
          <p:nvPr>
            <p:ph type="pic" idx="3"/>
          </p:nvPr>
        </p:nvSpPr>
        <p:spPr>
          <a:xfrm>
            <a:off x="2800355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116"/>
          <p:cNvSpPr>
            <a:spLocks noGrp="1"/>
          </p:cNvSpPr>
          <p:nvPr>
            <p:ph type="pic" idx="4"/>
          </p:nvPr>
        </p:nvSpPr>
        <p:spPr>
          <a:xfrm>
            <a:off x="4727816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116"/>
          <p:cNvSpPr>
            <a:spLocks noGrp="1"/>
          </p:cNvSpPr>
          <p:nvPr>
            <p:ph type="pic" idx="5"/>
          </p:nvPr>
        </p:nvSpPr>
        <p:spPr>
          <a:xfrm>
            <a:off x="6637952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116"/>
          <p:cNvSpPr>
            <a:spLocks noGrp="1"/>
          </p:cNvSpPr>
          <p:nvPr>
            <p:ph type="pic" idx="6"/>
          </p:nvPr>
        </p:nvSpPr>
        <p:spPr>
          <a:xfrm>
            <a:off x="8565414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116"/>
          <p:cNvSpPr>
            <a:spLocks noGrp="1"/>
          </p:cNvSpPr>
          <p:nvPr>
            <p:ph type="pic" idx="7"/>
          </p:nvPr>
        </p:nvSpPr>
        <p:spPr>
          <a:xfrm>
            <a:off x="10475551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116"/>
          <p:cNvSpPr>
            <a:spLocks noGrp="1"/>
          </p:cNvSpPr>
          <p:nvPr>
            <p:ph type="pic" idx="8"/>
          </p:nvPr>
        </p:nvSpPr>
        <p:spPr>
          <a:xfrm>
            <a:off x="1709577" y="3238850"/>
            <a:ext cx="1080004" cy="1080002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116"/>
          <p:cNvSpPr>
            <a:spLocks noGrp="1"/>
          </p:cNvSpPr>
          <p:nvPr>
            <p:ph type="pic" idx="9"/>
          </p:nvPr>
        </p:nvSpPr>
        <p:spPr>
          <a:xfrm>
            <a:off x="5547176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116"/>
          <p:cNvSpPr>
            <a:spLocks noGrp="1"/>
          </p:cNvSpPr>
          <p:nvPr>
            <p:ph type="pic" idx="13"/>
          </p:nvPr>
        </p:nvSpPr>
        <p:spPr>
          <a:xfrm>
            <a:off x="9384772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116"/>
          <p:cNvSpPr>
            <a:spLocks noGrp="1"/>
          </p:cNvSpPr>
          <p:nvPr>
            <p:ph type="pic" idx="14"/>
          </p:nvPr>
        </p:nvSpPr>
        <p:spPr>
          <a:xfrm>
            <a:off x="5410791" y="1012531"/>
            <a:ext cx="1312734" cy="1306803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11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 3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7"/>
          <p:cNvSpPr>
            <a:spLocks noGrp="1"/>
          </p:cNvSpPr>
          <p:nvPr>
            <p:ph type="pic" idx="2"/>
          </p:nvPr>
        </p:nvSpPr>
        <p:spPr>
          <a:xfrm>
            <a:off x="184597" y="0"/>
            <a:ext cx="328930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117"/>
          <p:cNvSpPr>
            <a:spLocks noGrp="1"/>
          </p:cNvSpPr>
          <p:nvPr>
            <p:ph type="pic" idx="3"/>
          </p:nvPr>
        </p:nvSpPr>
        <p:spPr>
          <a:xfrm>
            <a:off x="8718101" y="0"/>
            <a:ext cx="328930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117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7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118" descr="Picture 11"/>
          <p:cNvPicPr preferRelativeResize="0"/>
          <p:nvPr/>
        </p:nvPicPr>
        <p:blipFill rotWithShape="1">
          <a:blip r:embed="rId2">
            <a:alphaModFix/>
          </a:blip>
          <a:srcRect l="372" b="842"/>
          <a:stretch/>
        </p:blipFill>
        <p:spPr>
          <a:xfrm>
            <a:off x="0" y="-1"/>
            <a:ext cx="121896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1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118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 3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9"/>
          <p:cNvSpPr>
            <a:spLocks noGrp="1"/>
          </p:cNvSpPr>
          <p:nvPr>
            <p:ph type="pic" idx="2"/>
          </p:nvPr>
        </p:nvSpPr>
        <p:spPr>
          <a:xfrm>
            <a:off x="4689138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119"/>
          <p:cNvSpPr>
            <a:spLocks noGrp="1"/>
          </p:cNvSpPr>
          <p:nvPr>
            <p:ph type="pic" idx="3"/>
          </p:nvPr>
        </p:nvSpPr>
        <p:spPr>
          <a:xfrm>
            <a:off x="1125881" y="2491270"/>
            <a:ext cx="2807037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119"/>
          <p:cNvSpPr>
            <a:spLocks noGrp="1"/>
          </p:cNvSpPr>
          <p:nvPr>
            <p:ph type="pic" idx="4"/>
          </p:nvPr>
        </p:nvSpPr>
        <p:spPr>
          <a:xfrm>
            <a:off x="8252396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119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1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9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4" name="Google Shape;434;p1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19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0" name="Google Shape;440;p1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1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1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19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1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1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1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19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3" name="Google Shape;453;p19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4" name="Google Shape;454;p19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5" name="Google Shape;455;p19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1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1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1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9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67" name="Google Shape;467;p19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8" name="Google Shape;468;p1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9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19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75" name="Google Shape;475;p1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9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1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20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2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412529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Blank" type="tx">
  <p:cSld name="4_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" name="Google Shape;29;p54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1"/>
            <a:ext cx="1218963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4" descr="Picture 8"/>
          <p:cNvPicPr preferRelativeResize="0"/>
          <p:nvPr/>
        </p:nvPicPr>
        <p:blipFill rotWithShape="1">
          <a:blip r:embed="rId3">
            <a:alphaModFix/>
          </a:blip>
          <a:srcRect l="389" b="649"/>
          <a:stretch/>
        </p:blipFill>
        <p:spPr>
          <a:xfrm>
            <a:off x="-1" y="0"/>
            <a:ext cx="1218963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4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1" y="-1"/>
            <a:ext cx="1219501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11933376" y="5841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/>
            </a:lvl1pPr>
            <a:lvl2pPr marL="0" lvl="1" indent="0" algn="r">
              <a:spcBef>
                <a:spcPts val="0"/>
              </a:spcBef>
              <a:buNone/>
              <a:defRPr sz="1200"/>
            </a:lvl2pPr>
            <a:lvl3pPr marL="0" lvl="2" indent="0" algn="r">
              <a:spcBef>
                <a:spcPts val="0"/>
              </a:spcBef>
              <a:buNone/>
              <a:defRPr sz="1200"/>
            </a:lvl3pPr>
            <a:lvl4pPr marL="0" lvl="3" indent="0" algn="r">
              <a:spcBef>
                <a:spcPts val="0"/>
              </a:spcBef>
              <a:buNone/>
              <a:defRPr sz="1200"/>
            </a:lvl4pPr>
            <a:lvl5pPr marL="0" lvl="4" indent="0" algn="r">
              <a:spcBef>
                <a:spcPts val="0"/>
              </a:spcBef>
              <a:buNone/>
              <a:defRPr sz="1200"/>
            </a:lvl5pPr>
            <a:lvl6pPr marL="0" lvl="5" indent="0" algn="r">
              <a:spcBef>
                <a:spcPts val="0"/>
              </a:spcBef>
              <a:buNone/>
              <a:defRPr sz="1200"/>
            </a:lvl6pPr>
            <a:lvl7pPr marL="0" lvl="6" indent="0" algn="r">
              <a:spcBef>
                <a:spcPts val="0"/>
              </a:spcBef>
              <a:buNone/>
              <a:defRPr sz="1200"/>
            </a:lvl7pPr>
            <a:lvl8pPr marL="0" lvl="7" indent="0" algn="r">
              <a:spcBef>
                <a:spcPts val="0"/>
              </a:spcBef>
              <a:buNone/>
              <a:defRPr sz="1200"/>
            </a:lvl8pPr>
            <a:lvl9pPr marL="0" lvl="8" indent="0" algn="r">
              <a:spcBef>
                <a:spcPts val="0"/>
              </a:spcBef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88598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478099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3177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174595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848056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88764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97804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318241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99670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41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2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  <p:sldLayoutId id="2147483725" r:id="rId7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7" name="Google Shape;417;p1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8" name="Google Shape;418;p1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1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2037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hart" Target="../charts/chart5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7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7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2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0"/>
          <p:cNvSpPr/>
          <p:nvPr/>
        </p:nvSpPr>
        <p:spPr>
          <a:xfrm>
            <a:off x="109688" y="2043073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4" name="Google Shape;664;p120"/>
          <p:cNvGraphicFramePr/>
          <p:nvPr/>
        </p:nvGraphicFramePr>
        <p:xfrm>
          <a:off x="271469" y="689841"/>
          <a:ext cx="2683181" cy="2733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65" name="Google Shape;665;p120"/>
          <p:cNvSpPr/>
          <p:nvPr/>
        </p:nvSpPr>
        <p:spPr>
          <a:xfrm rot="186477">
            <a:off x="139955" y="1978165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0"/>
          <p:cNvSpPr/>
          <p:nvPr/>
        </p:nvSpPr>
        <p:spPr>
          <a:xfrm>
            <a:off x="573102" y="2161631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Realization Indicator</a:t>
            </a:r>
            <a:endParaRPr sz="140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4265" y="117711"/>
            <a:ext cx="1390637" cy="444892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20"/>
          <p:cNvSpPr txBox="1"/>
          <p:nvPr/>
        </p:nvSpPr>
        <p:spPr>
          <a:xfrm>
            <a:off x="170992" y="-12641"/>
            <a:ext cx="102244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Managem</a:t>
            </a:r>
            <a:r>
              <a:rPr lang="en-US" sz="3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ent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Dashboard (Progress Update)</a:t>
            </a:r>
            <a:endParaRPr sz="32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0"/>
          <p:cNvSpPr/>
          <p:nvPr/>
        </p:nvSpPr>
        <p:spPr>
          <a:xfrm>
            <a:off x="1220739" y="2805969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Initiation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0"/>
          <p:cNvSpPr/>
          <p:nvPr/>
        </p:nvSpPr>
        <p:spPr>
          <a:xfrm>
            <a:off x="599929" y="2748855"/>
            <a:ext cx="566865" cy="468844"/>
          </a:xfrm>
          <a:prstGeom prst="ellipse">
            <a:avLst/>
          </a:prstGeom>
          <a:solidFill>
            <a:srgbClr val="3E3E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20"/>
          <p:cNvSpPr/>
          <p:nvPr/>
        </p:nvSpPr>
        <p:spPr>
          <a:xfrm>
            <a:off x="640423" y="6082507"/>
            <a:ext cx="475791" cy="442426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6" name="Google Shape;686;p120"/>
          <p:cNvCxnSpPr>
            <a:stCxn id="684" idx="4"/>
          </p:cNvCxnSpPr>
          <p:nvPr/>
        </p:nvCxnSpPr>
        <p:spPr>
          <a:xfrm flipH="1">
            <a:off x="878262" y="3217699"/>
            <a:ext cx="5100" cy="2852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7" name="Google Shape;687;p120"/>
          <p:cNvSpPr/>
          <p:nvPr/>
        </p:nvSpPr>
        <p:spPr>
          <a:xfrm>
            <a:off x="597408" y="4398947"/>
            <a:ext cx="566865" cy="468844"/>
          </a:xfrm>
          <a:prstGeom prst="ellipse">
            <a:avLst/>
          </a:prstGeom>
          <a:solidFill>
            <a:srgbClr val="A8D08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0"/>
          <p:cNvSpPr/>
          <p:nvPr/>
        </p:nvSpPr>
        <p:spPr>
          <a:xfrm>
            <a:off x="597408" y="3605259"/>
            <a:ext cx="566865" cy="468844"/>
          </a:xfrm>
          <a:prstGeom prst="ellipse">
            <a:avLst/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20"/>
          <p:cNvSpPr/>
          <p:nvPr/>
        </p:nvSpPr>
        <p:spPr>
          <a:xfrm>
            <a:off x="594887" y="5255351"/>
            <a:ext cx="566865" cy="468844"/>
          </a:xfrm>
          <a:prstGeom prst="ellipse">
            <a:avLst/>
          </a:prstGeom>
          <a:solidFill>
            <a:srgbClr val="EDEDE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0"/>
          <p:cNvSpPr/>
          <p:nvPr/>
        </p:nvSpPr>
        <p:spPr>
          <a:xfrm>
            <a:off x="1226532" y="3487060"/>
            <a:ext cx="2048881" cy="7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Coordination &amp; Requirements Gathering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0"/>
          <p:cNvSpPr/>
          <p:nvPr/>
        </p:nvSpPr>
        <p:spPr>
          <a:xfrm>
            <a:off x="1204150" y="4451716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Scheduling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0"/>
          <p:cNvSpPr/>
          <p:nvPr/>
        </p:nvSpPr>
        <p:spPr>
          <a:xfrm>
            <a:off x="1223733" y="5310495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&amp; Evaluation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20"/>
          <p:cNvSpPr/>
          <p:nvPr/>
        </p:nvSpPr>
        <p:spPr>
          <a:xfrm>
            <a:off x="1213885" y="6114911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Completion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20"/>
          <p:cNvSpPr/>
          <p:nvPr/>
        </p:nvSpPr>
        <p:spPr>
          <a:xfrm>
            <a:off x="211482" y="454818"/>
            <a:ext cx="2454400" cy="3609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(Update </a:t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-US" sz="1800" b="1" i="1" u="none" strike="noStrike" cap="none" baseline="30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May 2026</a:t>
            </a: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726;p121"/>
          <p:cNvSpPr/>
          <p:nvPr/>
        </p:nvSpPr>
        <p:spPr>
          <a:xfrm>
            <a:off x="3422853" y="819822"/>
            <a:ext cx="8467459" cy="449994"/>
          </a:xfrm>
          <a:prstGeom prst="rect">
            <a:avLst/>
          </a:prstGeom>
          <a:solidFill>
            <a:srgbClr val="FFFF0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BUSINESS PROJECTS</a:t>
            </a:r>
            <a:endParaRPr sz="2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" name="Chart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648482"/>
              </p:ext>
            </p:extLst>
          </p:nvPr>
        </p:nvGraphicFramePr>
        <p:xfrm>
          <a:off x="3422853" y="1269815"/>
          <a:ext cx="8467459" cy="5208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-2126751" y="572134"/>
            <a:ext cx="1947671" cy="14709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 smtClean="0"/>
              <a:t>Belum</a:t>
            </a:r>
            <a:r>
              <a:rPr lang="en-US" b="1" dirty="0" smtClean="0"/>
              <a:t> Update: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APIM: 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21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21"/>
          <p:cNvSpPr/>
          <p:nvPr/>
        </p:nvSpPr>
        <p:spPr>
          <a:xfrm>
            <a:off x="109688" y="2043073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9" name="Google Shape;719;p121"/>
          <p:cNvGraphicFramePr/>
          <p:nvPr/>
        </p:nvGraphicFramePr>
        <p:xfrm>
          <a:off x="271469" y="689841"/>
          <a:ext cx="2683181" cy="2733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20" name="Google Shape;720;p121"/>
          <p:cNvSpPr/>
          <p:nvPr/>
        </p:nvSpPr>
        <p:spPr>
          <a:xfrm rot="186477">
            <a:off x="139955" y="1978165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21"/>
          <p:cNvSpPr/>
          <p:nvPr/>
        </p:nvSpPr>
        <p:spPr>
          <a:xfrm>
            <a:off x="573102" y="2161631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Realization Indicator</a:t>
            </a:r>
            <a:endParaRPr sz="140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4265" y="117711"/>
            <a:ext cx="1390637" cy="444892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21"/>
          <p:cNvSpPr txBox="1"/>
          <p:nvPr/>
        </p:nvSpPr>
        <p:spPr>
          <a:xfrm>
            <a:off x="170992" y="-12641"/>
            <a:ext cx="102244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Managem</a:t>
            </a:r>
            <a:r>
              <a:rPr lang="en-US" sz="3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ent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Dashboard (Progress Update)</a:t>
            </a:r>
            <a:endParaRPr sz="32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21"/>
          <p:cNvSpPr/>
          <p:nvPr/>
        </p:nvSpPr>
        <p:spPr>
          <a:xfrm>
            <a:off x="1220739" y="2805969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Initiation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21"/>
          <p:cNvSpPr/>
          <p:nvPr/>
        </p:nvSpPr>
        <p:spPr>
          <a:xfrm>
            <a:off x="3422853" y="819822"/>
            <a:ext cx="8467459" cy="449994"/>
          </a:xfrm>
          <a:prstGeom prst="rect">
            <a:avLst/>
          </a:prstGeom>
          <a:solidFill>
            <a:srgbClr val="FF000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 Business Projects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21"/>
          <p:cNvSpPr/>
          <p:nvPr/>
        </p:nvSpPr>
        <p:spPr>
          <a:xfrm>
            <a:off x="599929" y="2748855"/>
            <a:ext cx="566865" cy="468844"/>
          </a:xfrm>
          <a:prstGeom prst="ellipse">
            <a:avLst/>
          </a:prstGeom>
          <a:solidFill>
            <a:srgbClr val="3E3E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21"/>
          <p:cNvSpPr/>
          <p:nvPr/>
        </p:nvSpPr>
        <p:spPr>
          <a:xfrm>
            <a:off x="640423" y="6082507"/>
            <a:ext cx="475791" cy="442426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121"/>
          <p:cNvCxnSpPr>
            <a:stCxn id="730" idx="4"/>
          </p:cNvCxnSpPr>
          <p:nvPr/>
        </p:nvCxnSpPr>
        <p:spPr>
          <a:xfrm flipH="1">
            <a:off x="878262" y="3217699"/>
            <a:ext cx="5100" cy="2852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33" name="Google Shape;733;p121"/>
          <p:cNvSpPr/>
          <p:nvPr/>
        </p:nvSpPr>
        <p:spPr>
          <a:xfrm>
            <a:off x="597408" y="4398947"/>
            <a:ext cx="566865" cy="468844"/>
          </a:xfrm>
          <a:prstGeom prst="ellipse">
            <a:avLst/>
          </a:prstGeom>
          <a:solidFill>
            <a:srgbClr val="A8D08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21"/>
          <p:cNvSpPr/>
          <p:nvPr/>
        </p:nvSpPr>
        <p:spPr>
          <a:xfrm>
            <a:off x="597408" y="3605259"/>
            <a:ext cx="566865" cy="468844"/>
          </a:xfrm>
          <a:prstGeom prst="ellipse">
            <a:avLst/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21"/>
          <p:cNvSpPr/>
          <p:nvPr/>
        </p:nvSpPr>
        <p:spPr>
          <a:xfrm>
            <a:off x="594887" y="5255351"/>
            <a:ext cx="566865" cy="468844"/>
          </a:xfrm>
          <a:prstGeom prst="ellipse">
            <a:avLst/>
          </a:prstGeom>
          <a:solidFill>
            <a:srgbClr val="EDEDE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21"/>
          <p:cNvSpPr/>
          <p:nvPr/>
        </p:nvSpPr>
        <p:spPr>
          <a:xfrm>
            <a:off x="1226532" y="3487060"/>
            <a:ext cx="2048881" cy="7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Coordination &amp; Requirements Gathering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21"/>
          <p:cNvSpPr/>
          <p:nvPr/>
        </p:nvSpPr>
        <p:spPr>
          <a:xfrm>
            <a:off x="1204150" y="4451716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Scheduling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21"/>
          <p:cNvSpPr/>
          <p:nvPr/>
        </p:nvSpPr>
        <p:spPr>
          <a:xfrm>
            <a:off x="1223733" y="5310495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&amp; Evaluation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21"/>
          <p:cNvSpPr/>
          <p:nvPr/>
        </p:nvSpPr>
        <p:spPr>
          <a:xfrm>
            <a:off x="1213885" y="6114911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Completion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695;p120"/>
          <p:cNvSpPr/>
          <p:nvPr/>
        </p:nvSpPr>
        <p:spPr>
          <a:xfrm>
            <a:off x="211482" y="454818"/>
            <a:ext cx="2454400" cy="3609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(Update </a:t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-US" sz="1800" b="1" i="1" u="none" strike="noStrike" cap="none" baseline="30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May 2026</a:t>
            </a: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" name="Chart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4951537"/>
              </p:ext>
            </p:extLst>
          </p:nvPr>
        </p:nvGraphicFramePr>
        <p:xfrm>
          <a:off x="3429243" y="1269816"/>
          <a:ext cx="8461069" cy="5402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Rectangle 22"/>
          <p:cNvSpPr/>
          <p:nvPr/>
        </p:nvSpPr>
        <p:spPr>
          <a:xfrm>
            <a:off x="-2126751" y="572134"/>
            <a:ext cx="1947671" cy="14709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 smtClean="0"/>
              <a:t>Belum</a:t>
            </a:r>
            <a:r>
              <a:rPr lang="en-US" b="1" dirty="0" smtClean="0"/>
              <a:t> Update: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FDS: 15%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22" descr="IMG_Gd-FINCEN-(1)-sky.png"/>
          <p:cNvPicPr preferRelativeResize="0"/>
          <p:nvPr/>
        </p:nvPicPr>
        <p:blipFill rotWithShape="1">
          <a:blip r:embed="rId3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122" descr="MNCBank-Logo_FullColor.png"/>
          <p:cNvPicPr preferRelativeResize="0"/>
          <p:nvPr/>
        </p:nvPicPr>
        <p:blipFill rotWithShape="1">
          <a:blip r:embed="rId4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122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22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1800"/>
            </a:pPr>
            <a:r>
              <a:rPr lang="en-US" sz="1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@Project Management Office 2026</a:t>
            </a:r>
          </a:p>
        </p:txBody>
      </p:sp>
      <p:sp>
        <p:nvSpPr>
          <p:cNvPr id="755" name="Google Shape;755;p122"/>
          <p:cNvSpPr txBox="1"/>
          <p:nvPr/>
        </p:nvSpPr>
        <p:spPr>
          <a:xfrm>
            <a:off x="6637524" y="3098273"/>
            <a:ext cx="56099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Business Projects</a:t>
            </a:r>
            <a:endParaRPr sz="4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3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4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QRIS Acquiring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228600" lvl="0" indent="-2286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3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dokumen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surat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pernyataan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Bank Indonesia</a:t>
            </a:r>
          </a:p>
          <a:p>
            <a:pPr marL="228600" lvl="0" indent="-2286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rules FDS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Bank Indonesia.</a:t>
            </a:r>
          </a:p>
          <a:p>
            <a:pPr marL="228600" lvl="0" indent="-2286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Workshop functionalities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penggunaan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 System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MTN</a:t>
            </a:r>
          </a:p>
          <a:p>
            <a:pPr marL="171450" lvl="0" indent="-171450" algn="just">
              <a:spcBef>
                <a:spcPts val="300"/>
              </a:spcBef>
              <a:buSzPts val="1200"/>
              <a:buFont typeface="Arial" panose="020B0604020202020204" pitchFamily="34" charset="0"/>
              <a:buChar char="•"/>
            </a:pPr>
            <a:endParaRPr lang="en-US"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spcBef>
                <a:spcPts val="300"/>
              </a:spcBef>
              <a:buSzPts val="1200"/>
            </a:pPr>
            <a:r>
              <a:rPr lang="en-US" sz="1400" b="1" i="0" u="none" strike="noStrike" cap="none" dirty="0" smtClean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</a:t>
            </a: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Activities :</a:t>
            </a:r>
            <a:endParaRPr dirty="0"/>
          </a:p>
          <a:p>
            <a:pPr marL="228600" indent="-2286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Workshop Technical FDS – QRIS Acquiring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pada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03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Juni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2026.</a:t>
            </a:r>
          </a:p>
          <a:p>
            <a:pPr marL="228600" indent="-2286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Direncanakan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sudah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bias set-up 04-05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Juni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2026.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endParaRPr lang="en-US" sz="1400" b="1" i="0" u="none" strike="noStrike" cap="none" dirty="0" smtClean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300"/>
              </a:spcBef>
            </a:pPr>
            <a:r>
              <a:rPr lang="en-US"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lang="en-US" sz="1200" b="1" dirty="0" smtClean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300"/>
              </a:spcBef>
            </a:pPr>
            <a:endParaRPr sz="12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Challenges :</a:t>
            </a:r>
            <a:endParaRPr dirty="0"/>
          </a:p>
          <a:p>
            <a:pPr marR="0" lvl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set-up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penggunaan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 – QRIS Acquiring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dari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MTN.</a:t>
            </a:r>
            <a:r>
              <a:rPr lang="en-US" sz="1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dirty="0"/>
          </a:p>
          <a:p>
            <a:pPr marR="0" lvl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Telah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dilakukan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arrangement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 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Business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Technology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 </a:t>
            </a:r>
            <a:r>
              <a:rPr lang="en-US" sz="1600" b="1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Juni</a:t>
            </a:r>
            <a:r>
              <a:rPr lang="en-US" sz="16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i="1" u="none" strike="noStrike" cap="none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rencana</a:t>
            </a:r>
            <a:r>
              <a:rPr lang="en-US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i="1" u="none" strike="noStrike" cap="none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awal</a:t>
            </a:r>
            <a:r>
              <a:rPr lang="en-US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02 Mar’26)</a:t>
            </a:r>
            <a:endParaRPr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endParaRPr sz="24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QRIS Acquiring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Project </a:t>
            </a:r>
            <a:r>
              <a:rPr lang="en-US" sz="2400" b="1" dirty="0" smtClean="0">
                <a:solidFill>
                  <a:srgbClr val="001F5F"/>
                </a:solidFill>
              </a:rPr>
              <a:t>QRIS</a:t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Terdapat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keterlambatan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dalam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proses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pemenuhan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dokumen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dalam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beberapa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kesempatan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spcBef>
                <a:spcPts val="300"/>
              </a:spcBef>
              <a:buSzPts val="1200"/>
            </a:pP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Kesalahan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dalam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mengirimkan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hasil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test (UAT) 	[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akhir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2025]</a:t>
            </a:r>
          </a:p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Kesalahan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dalam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melakukan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assessment 	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                     [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Maret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2026]</a:t>
            </a:r>
          </a:p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Kekurangan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dokumen-dokumen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		                       [Mei 2026]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  <p:extLst>
      <p:ext uri="{BB962C8B-B14F-4D97-AF65-F5344CB8AC3E}">
        <p14:creationId xmlns:p14="http://schemas.microsoft.com/office/powerpoint/2010/main" val="400387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22" descr="IMG_Gd-FINCEN-(1)-sky.png"/>
          <p:cNvPicPr preferRelativeResize="0"/>
          <p:nvPr/>
        </p:nvPicPr>
        <p:blipFill rotWithShape="1">
          <a:blip r:embed="rId3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122" descr="MNCBank-Logo_FullColor.png"/>
          <p:cNvPicPr preferRelativeResize="0"/>
          <p:nvPr/>
        </p:nvPicPr>
        <p:blipFill rotWithShape="1">
          <a:blip r:embed="rId4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122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22"/>
          <p:cNvSpPr txBox="1"/>
          <p:nvPr/>
        </p:nvSpPr>
        <p:spPr>
          <a:xfrm>
            <a:off x="6197600" y="3098273"/>
            <a:ext cx="604982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Non Business Projects</a:t>
            </a:r>
            <a:endParaRPr sz="4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391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123" descr="IMG_Gd-FINCEN-(1)-sky.png"/>
          <p:cNvPicPr preferRelativeResize="0"/>
          <p:nvPr/>
        </p:nvPicPr>
        <p:blipFill rotWithShape="1">
          <a:blip r:embed="rId3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123" descr="MNCBank-Logo_FullColor.png"/>
          <p:cNvPicPr preferRelativeResize="0"/>
          <p:nvPr/>
        </p:nvPicPr>
        <p:blipFill rotWithShape="1">
          <a:blip r:embed="rId4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123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12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Data Center Migration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0" name="Google Shape;770;p124"/>
          <p:cNvCxnSpPr>
            <a:stCxn id="771" idx="6"/>
          </p:cNvCxnSpPr>
          <p:nvPr/>
        </p:nvCxnSpPr>
        <p:spPr>
          <a:xfrm>
            <a:off x="3976743" y="1520178"/>
            <a:ext cx="7436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2" name="Google Shape;772;p124"/>
          <p:cNvSpPr/>
          <p:nvPr/>
        </p:nvSpPr>
        <p:spPr>
          <a:xfrm>
            <a:off x="1" y="0"/>
            <a:ext cx="3137840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3" name="Google Shape;773;p124"/>
          <p:cNvGraphicFramePr/>
          <p:nvPr/>
        </p:nvGraphicFramePr>
        <p:xfrm rot="-5400000">
          <a:off x="-288549" y="798017"/>
          <a:ext cx="3392700" cy="257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4" name="Google Shape;774;p124"/>
          <p:cNvSpPr txBox="1"/>
          <p:nvPr/>
        </p:nvSpPr>
        <p:spPr>
          <a:xfrm>
            <a:off x="-44407" y="44261"/>
            <a:ext cx="4365393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: DC Migration</a:t>
            </a:r>
            <a:endParaRPr/>
          </a:p>
        </p:txBody>
      </p:sp>
      <p:sp>
        <p:nvSpPr>
          <p:cNvPr id="775" name="Google Shape;775;p124"/>
          <p:cNvSpPr/>
          <p:nvPr/>
        </p:nvSpPr>
        <p:spPr>
          <a:xfrm>
            <a:off x="3182248" y="676114"/>
            <a:ext cx="8864609" cy="425279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Timeline </a:t>
            </a:r>
            <a:endParaRPr sz="1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24"/>
          <p:cNvSpPr/>
          <p:nvPr/>
        </p:nvSpPr>
        <p:spPr>
          <a:xfrm>
            <a:off x="3182248" y="1146764"/>
            <a:ext cx="8864609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24"/>
          <p:cNvSpPr/>
          <p:nvPr/>
        </p:nvSpPr>
        <p:spPr>
          <a:xfrm>
            <a:off x="3409878" y="1285756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24"/>
          <p:cNvSpPr/>
          <p:nvPr/>
        </p:nvSpPr>
        <p:spPr>
          <a:xfrm>
            <a:off x="3057003" y="1793251"/>
            <a:ext cx="1263983" cy="5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Pencarian Vendor</a:t>
            </a:r>
            <a:endParaRPr/>
          </a:p>
        </p:txBody>
      </p:sp>
      <p:sp>
        <p:nvSpPr>
          <p:cNvPr id="778" name="Google Shape;778;p124"/>
          <p:cNvSpPr/>
          <p:nvPr/>
        </p:nvSpPr>
        <p:spPr>
          <a:xfrm>
            <a:off x="3353572" y="2562726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24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E75B5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24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24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24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perpindahan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Data Center existing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Data Center (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lokasi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baru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Pemilihan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pihak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3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menyediakan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Data Center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kapabilitas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lebih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baik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namun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tetap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efisien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R="0" lvl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Seluruh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proses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migrasi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dilakukan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target minimum downtime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bagi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operasional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perbankan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24"/>
          <p:cNvSpPr/>
          <p:nvPr/>
        </p:nvSpPr>
        <p:spPr>
          <a:xfrm>
            <a:off x="6348280" y="312629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sz="1400" b="1" i="0" u="none" strike="noStrike" cap="none" dirty="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Relokasi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IPC Trading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Telephonie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dari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MNC Tower Lt4 </a:t>
            </a:r>
            <a:r>
              <a:rPr lang="en-US" sz="1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Edge2  -&gt; PO Procurement MNCB.</a:t>
            </a: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Relokasi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SME PABX Kantor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Pusat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dari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MNC Tower Lt4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Lt6 -&gt; PO</a:t>
            </a: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Internet HO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LintasArta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dari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MNC Tower Lt4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MNCB Tower Lt12 -&gt; Vendor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assesst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terkait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cross connect needed.</a:t>
            </a: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Kyocera Printer -&gt; Pending Decision from GS</a:t>
            </a: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Indosat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Internet Backup HO 25MB -&gt; 20MB -&gt;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kendala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Blocker survey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ulang</a:t>
            </a:r>
            <a:endParaRPr lang="en-US" sz="12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IPVPN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Artajasa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-&gt; SPH Collected</a:t>
            </a:r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Relokasi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BPG DC Plaza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Edge2 Rack1/2 -&gt; </a:t>
            </a:r>
            <a:r>
              <a:rPr lang="en-US" sz="12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menunggu</a:t>
            </a:r>
            <a:r>
              <a:rPr lang="en-US" sz="1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SPH</a:t>
            </a:r>
          </a:p>
          <a:p>
            <a:pPr marR="0" lvl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12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24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Challenges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dirty="0"/>
          </a:p>
          <a:p>
            <a:pPr marR="0" lvl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Komunikasi</a:t>
            </a: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intensif</a:t>
            </a: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Telkom </a:t>
            </a:r>
            <a:r>
              <a:rPr lang="en-US" sz="12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persiapan</a:t>
            </a: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relokasi</a:t>
            </a:r>
            <a:r>
              <a:rPr lang="en-US" sz="12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5" name="Google Shape;785;p124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6" name="Google Shape;786;p124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7" name="Google Shape;787;p124"/>
          <p:cNvSpPr/>
          <p:nvPr/>
        </p:nvSpPr>
        <p:spPr>
          <a:xfrm>
            <a:off x="152304" y="3741345"/>
            <a:ext cx="2749759" cy="733792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24"/>
          <p:cNvSpPr/>
          <p:nvPr/>
        </p:nvSpPr>
        <p:spPr>
          <a:xfrm>
            <a:off x="203214" y="3765654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Ownership 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Dir.</a:t>
            </a:r>
            <a:endParaRPr/>
          </a:p>
        </p:txBody>
      </p:sp>
      <p:pic>
        <p:nvPicPr>
          <p:cNvPr id="789" name="Google Shape;789;p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8128" y="3859803"/>
            <a:ext cx="541023" cy="541023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124"/>
          <p:cNvSpPr/>
          <p:nvPr/>
        </p:nvSpPr>
        <p:spPr>
          <a:xfrm>
            <a:off x="152304" y="4742094"/>
            <a:ext cx="2749759" cy="773526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24"/>
          <p:cNvSpPr/>
          <p:nvPr/>
        </p:nvSpPr>
        <p:spPr>
          <a:xfrm>
            <a:off x="152304" y="4883558"/>
            <a:ext cx="2675134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Pemindahan data center ke lokasi baru yang sesuai dengan standar data center untuk perbankan.</a:t>
            </a:r>
            <a:endParaRPr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24"/>
          <p:cNvSpPr/>
          <p:nvPr/>
        </p:nvSpPr>
        <p:spPr>
          <a:xfrm>
            <a:off x="136598" y="5724831"/>
            <a:ext cx="2765465" cy="737984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24"/>
          <p:cNvSpPr/>
          <p:nvPr/>
        </p:nvSpPr>
        <p:spPr>
          <a:xfrm>
            <a:off x="203214" y="5782572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</a:t>
            </a:r>
            <a:r>
              <a:rPr lang="en-US" sz="1600" b="1" i="0" u="none" strike="noStrike" cap="none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</a:t>
            </a:r>
            <a:r>
              <a:rPr lang="en-US" sz="16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lang="en-US" sz="16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i="1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i="1" u="none" strike="noStrike" cap="none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rencana</a:t>
            </a:r>
            <a:r>
              <a:rPr lang="en-US" i="1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i="1" u="none" strike="noStrike" cap="none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awal</a:t>
            </a:r>
            <a:r>
              <a:rPr lang="en-US" i="1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30 Apr’26)</a:t>
            </a:r>
          </a:p>
        </p:txBody>
      </p:sp>
      <p:pic>
        <p:nvPicPr>
          <p:cNvPr id="794" name="Google Shape;794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37635" y="5736014"/>
            <a:ext cx="689803" cy="689803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124"/>
          <p:cNvSpPr/>
          <p:nvPr/>
        </p:nvSpPr>
        <p:spPr>
          <a:xfrm>
            <a:off x="109688" y="1954574"/>
            <a:ext cx="244316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24"/>
          <p:cNvSpPr/>
          <p:nvPr/>
        </p:nvSpPr>
        <p:spPr>
          <a:xfrm>
            <a:off x="4530920" y="1884232"/>
            <a:ext cx="1165113" cy="3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Vendor Scoring and Aseessment</a:t>
            </a:r>
            <a:endParaRPr sz="1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24"/>
          <p:cNvSpPr/>
          <p:nvPr/>
        </p:nvSpPr>
        <p:spPr>
          <a:xfrm>
            <a:off x="5961507" y="1799907"/>
            <a:ext cx="126127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Vendor Collocation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24"/>
          <p:cNvSpPr/>
          <p:nvPr/>
        </p:nvSpPr>
        <p:spPr>
          <a:xfrm>
            <a:off x="10858060" y="1791827"/>
            <a:ext cx="858548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dirty="0"/>
          </a:p>
        </p:txBody>
      </p:sp>
      <p:sp>
        <p:nvSpPr>
          <p:cNvPr id="799" name="Google Shape;799;p124"/>
          <p:cNvSpPr/>
          <p:nvPr/>
        </p:nvSpPr>
        <p:spPr>
          <a:xfrm>
            <a:off x="4815955" y="1276567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24"/>
          <p:cNvSpPr/>
          <p:nvPr/>
        </p:nvSpPr>
        <p:spPr>
          <a:xfrm>
            <a:off x="6280294" y="1260154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24"/>
          <p:cNvSpPr/>
          <p:nvPr/>
        </p:nvSpPr>
        <p:spPr>
          <a:xfrm>
            <a:off x="9332134" y="1192300"/>
            <a:ext cx="990736" cy="1215213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24"/>
          <p:cNvSpPr/>
          <p:nvPr/>
        </p:nvSpPr>
        <p:spPr>
          <a:xfrm>
            <a:off x="7651412" y="1692478"/>
            <a:ext cx="110989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Assesment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&amp; Deployment Space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24"/>
          <p:cNvSpPr/>
          <p:nvPr/>
        </p:nvSpPr>
        <p:spPr>
          <a:xfrm>
            <a:off x="7909370" y="1249576"/>
            <a:ext cx="623552" cy="468844"/>
          </a:xfrm>
          <a:prstGeom prst="ellipse">
            <a:avLst/>
          </a:prstGeom>
          <a:solidFill>
            <a:srgbClr val="2F54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24"/>
          <p:cNvSpPr/>
          <p:nvPr/>
        </p:nvSpPr>
        <p:spPr>
          <a:xfrm>
            <a:off x="10991798" y="1267708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5" name="Google Shape;805;p1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4265" y="117711"/>
            <a:ext cx="1390637" cy="444892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24"/>
          <p:cNvSpPr/>
          <p:nvPr/>
        </p:nvSpPr>
        <p:spPr>
          <a:xfrm>
            <a:off x="9408804" y="1773395"/>
            <a:ext cx="858548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 </a:t>
            </a:r>
            <a:r>
              <a:rPr lang="en-US" sz="11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Relocation</a:t>
            </a:r>
            <a:endParaRPr dirty="0"/>
          </a:p>
        </p:txBody>
      </p:sp>
      <p:sp>
        <p:nvSpPr>
          <p:cNvPr id="807" name="Google Shape;807;p124"/>
          <p:cNvSpPr/>
          <p:nvPr/>
        </p:nvSpPr>
        <p:spPr>
          <a:xfrm>
            <a:off x="9528025" y="1263790"/>
            <a:ext cx="566865" cy="468844"/>
          </a:xfrm>
          <a:prstGeom prst="ellipse">
            <a:avLst/>
          </a:prstGeom>
          <a:solidFill>
            <a:srgbClr val="2F54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24"/>
          <p:cNvSpPr/>
          <p:nvPr/>
        </p:nvSpPr>
        <p:spPr>
          <a:xfrm>
            <a:off x="108014" y="2048896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9" name="Google Shape;809;p124"/>
          <p:cNvGrpSpPr/>
          <p:nvPr/>
        </p:nvGrpSpPr>
        <p:grpSpPr>
          <a:xfrm>
            <a:off x="168192" y="2743785"/>
            <a:ext cx="2733872" cy="729553"/>
            <a:chOff x="168191" y="2743785"/>
            <a:chExt cx="2993851" cy="798930"/>
          </a:xfrm>
        </p:grpSpPr>
        <p:sp>
          <p:nvSpPr>
            <p:cNvPr id="810" name="Google Shape;810;p124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24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Center Migration</a:t>
              </a: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2" name="Google Shape;812;p124"/>
          <p:cNvSpPr/>
          <p:nvPr/>
        </p:nvSpPr>
        <p:spPr>
          <a:xfrm>
            <a:off x="393326" y="211556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r>
              <a:rPr lang="en-US" sz="24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1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28153" y="2896527"/>
            <a:ext cx="395475" cy="3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779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</a:t>
            </a:r>
            <a:r>
              <a:rPr lang="en-US" sz="2400" b="1" dirty="0" err="1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Relokasi</a:t>
            </a: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Koneksi</a:t>
            </a: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 RTGS </a:t>
            </a:r>
            <a:r>
              <a:rPr lang="en-US" sz="2400" b="1" dirty="0" err="1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dari</a:t>
            </a: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 MNC Tower</a:t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3779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Risk: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595198"/>
            <a:ext cx="59772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Proses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pengerjaan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dari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Telkom yang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masih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belum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termonitor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Stopper: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792231"/>
            <a:ext cx="59772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9504450"/>
              </p:ext>
            </p:extLst>
          </p:nvPr>
        </p:nvGraphicFramePr>
        <p:xfrm>
          <a:off x="377924" y="4376810"/>
          <a:ext cx="3598578" cy="2112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Rectangle 25"/>
          <p:cNvSpPr/>
          <p:nvPr/>
        </p:nvSpPr>
        <p:spPr>
          <a:xfrm>
            <a:off x="5960087" y="3715484"/>
            <a:ext cx="5977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Pada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bulan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April 2026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terdapat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proses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pelaporan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harus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dilakukan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berulang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karena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kekurangan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4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dokumen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68447"/>
              </p:ext>
            </p:extLst>
          </p:nvPr>
        </p:nvGraphicFramePr>
        <p:xfrm>
          <a:off x="377924" y="1552768"/>
          <a:ext cx="3620771" cy="1841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8619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48390</TotalTime>
  <Words>674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1_Office Theme</vt:lpstr>
      <vt:lpstr>3_Office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Update Status – Project QRIS</vt:lpstr>
      <vt:lpstr>PowerPoint Presentation</vt:lpstr>
      <vt:lpstr>PowerPoint Presentation</vt:lpstr>
      <vt:lpstr>PowerPoint Presentation</vt:lpstr>
      <vt:lpstr>Update Status – Relokasi Koneksi RTGS dari MNC Tower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NADHIRA AMALIA</dc:creator>
  <cp:lastModifiedBy>ALFATH LATUCONSINA</cp:lastModifiedBy>
  <cp:revision>409</cp:revision>
  <dcterms:modified xsi:type="dcterms:W3CDTF">2026-05-29T11:31:54Z</dcterms:modified>
</cp:coreProperties>
</file>